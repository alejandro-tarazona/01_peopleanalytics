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Exposure</c:v>
                </c:pt>
              </c:strCache>
            </c:strRef>
          </c:tx>
          <c:spPr>
            <a:solidFill>
              <a:srgbClr val="9CBCE8"/>
            </a:solidFill>
          </c:spPr>
          <c:cat>
            <c:strRef>
              <c:f>Sheet1!$A$2:$A$10</c:f>
              <c:strCache>
                <c:ptCount val="9"/>
                <c:pt idx="0">
                  <c:v>San Francisco</c:v>
                </c:pt>
                <c:pt idx="1">
                  <c:v>Mexico City</c:v>
                </c:pt>
                <c:pt idx="2">
                  <c:v>São Paulo</c:v>
                </c:pt>
                <c:pt idx="3">
                  <c:v>Miami</c:v>
                </c:pt>
                <c:pt idx="4">
                  <c:v>London</c:v>
                </c:pt>
                <c:pt idx="5">
                  <c:v>Bogotá</c:v>
                </c:pt>
                <c:pt idx="6">
                  <c:v>New York</c:v>
                </c:pt>
                <c:pt idx="7">
                  <c:v>Singapore</c:v>
                </c:pt>
                <c:pt idx="8">
                  <c:v>Dublin</c:v>
                </c:pt>
              </c:strCache>
            </c:strRef>
          </c:cat>
          <c:val>
            <c:numRef>
              <c:f>Sheet1!$B$2:$B$10</c:f>
              <c:numCache>
                <c:formatCode>[$-409]#,##0.0</c:formatCode>
                <c:ptCount val="9"/>
                <c:pt idx="0">
                  <c:v>4.5</c:v>
                </c:pt>
                <c:pt idx="1">
                  <c:v>4.9</c:v>
                </c:pt>
                <c:pt idx="2">
                  <c:v>5.4</c:v>
                </c:pt>
                <c:pt idx="3">
                  <c:v>7.1</c:v>
                </c:pt>
                <c:pt idx="4">
                  <c:v>9.2</c:v>
                </c:pt>
                <c:pt idx="5">
                  <c:v>9.7</c:v>
                </c:pt>
                <c:pt idx="6">
                  <c:v>10.2</c:v>
                </c:pt>
                <c:pt idx="7">
                  <c:v>13.4</c:v>
                </c:pt>
                <c:pt idx="8">
                  <c:v>13.5</c:v>
                </c:pt>
              </c:numCache>
            </c:numRef>
          </c:val>
        </c:ser>
        <c:dLbls>
          <c:numFmt formatCode="[$-409]#,##0.0" sourceLinked="0"/>
          <c:txPr>
            <a:bodyPr/>
            <a:lstStyle/>
            <a:p>
              <a:pPr>
                <a:defRPr sz="900">
                  <a:solidFill>
                    <a:srgbClr val="47546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6708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67085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Exits</c:v>
                </c:pt>
              </c:strCache>
            </c:strRef>
          </c:tx>
          <c:spPr>
            <a:solidFill>
              <a:srgbClr val="001552"/>
            </a:solidFill>
          </c:spPr>
          <c:cat>
            <c:strRef>
              <c:f>Sheet1!$A$2:$A$10</c:f>
              <c:strCache>
                <c:ptCount val="9"/>
                <c:pt idx="0">
                  <c:v>San Francisco</c:v>
                </c:pt>
                <c:pt idx="1">
                  <c:v>Mexico City</c:v>
                </c:pt>
                <c:pt idx="2">
                  <c:v>São Paulo</c:v>
                </c:pt>
                <c:pt idx="3">
                  <c:v>Miami</c:v>
                </c:pt>
                <c:pt idx="4">
                  <c:v>London</c:v>
                </c:pt>
                <c:pt idx="5">
                  <c:v>Bogotá</c:v>
                </c:pt>
                <c:pt idx="6">
                  <c:v>New York</c:v>
                </c:pt>
                <c:pt idx="7">
                  <c:v>Singapore</c:v>
                </c:pt>
                <c:pt idx="8">
                  <c:v>Dublin</c:v>
                </c:pt>
              </c:strCache>
            </c:strRef>
          </c:cat>
          <c:val>
            <c:numRef>
              <c:f>Sheet1!$B$2:$B$10</c:f>
              <c:numCache>
                <c:formatCode>[$-409]#,##0</c:formatCode>
                <c:ptCount val="9"/>
                <c:pt idx="0">
                  <c:v>22</c:v>
                </c:pt>
                <c:pt idx="1">
                  <c:v>54</c:v>
                </c:pt>
                <c:pt idx="2">
                  <c:v>55</c:v>
                </c:pt>
                <c:pt idx="3">
                  <c:v>46</c:v>
                </c:pt>
                <c:pt idx="4">
                  <c:v>47</c:v>
                </c:pt>
                <c:pt idx="5">
                  <c:v>148</c:v>
                </c:pt>
                <c:pt idx="6">
                  <c:v>51</c:v>
                </c:pt>
                <c:pt idx="7">
                  <c:v>97</c:v>
                </c:pt>
                <c:pt idx="8">
                  <c:v>79</c:v>
                </c:pt>
              </c:numCache>
            </c:numRef>
          </c:val>
        </c:ser>
        <c:dLbls>
          <c:numFmt formatCode="[$-409]#,##0" sourceLinked="0"/>
          <c:txPr>
            <a:bodyPr/>
            <a:lstStyle/>
            <a:p>
              <a:pPr>
                <a:defRPr sz="900">
                  <a:solidFill>
                    <a:srgbClr val="47546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6708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67085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dPt>
            <c:idx val="0"/>
            <c:spPr>
              <a:solidFill>
                <a:srgbClr val="96691A"/>
              </a:solidFill>
            </c:spPr>
          </c:dPt>
          <c:dPt>
            <c:idx val="1"/>
            <c:spPr>
              <a:solidFill>
                <a:srgbClr val="001552"/>
              </a:solidFill>
            </c:spPr>
          </c:dPt>
          <c:cat>
            <c:strRef>
              <c:f>Sheet1!$A$2:$A$3</c:f>
              <c:strCache>
                <c:ptCount val="2"/>
                <c:pt idx="0">
                  <c:v>Already in band</c:v>
                </c:pt>
                <c:pt idx="1">
                  <c:v>Below minimum</c:v>
                </c:pt>
              </c:strCache>
            </c:strRef>
          </c:cat>
          <c:val>
            <c:numRef>
              <c:f>Sheet1!$B$2:$B$3</c:f>
              <c:numCache>
                <c:formatCode>[$-409]$#,##0.00"M"</c:formatCode>
                <c:ptCount val="2"/>
                <c:pt idx="0">
                  <c:v>5.11</c:v>
                </c:pt>
                <c:pt idx="1">
                  <c:v>0.27</c:v>
                </c:pt>
              </c:numCache>
            </c:numRef>
          </c:val>
        </c:ser>
        <c:dLbls>
          <c:numFmt formatCode="[$-409]$#,##0.00&quot;M&quot;" sourceLinked="0"/>
          <c:txPr>
            <a:bodyPr/>
            <a:lstStyle/>
            <a:p>
              <a:pPr>
                <a:defRPr sz="900">
                  <a:solidFill>
                    <a:srgbClr val="47546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6708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67085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Months</c:v>
                </c:pt>
              </c:strCache>
            </c:strRef>
          </c:tx>
          <c:dPt>
            <c:idx val="0"/>
            <c:spPr>
              <a:solidFill>
                <a:srgbClr val="9CBCE8"/>
              </a:solidFill>
            </c:spPr>
          </c:dPt>
          <c:dPt>
            <c:idx val="1"/>
            <c:spPr>
              <a:solidFill>
                <a:srgbClr val="3E72C4"/>
              </a:solidFill>
            </c:spPr>
          </c:dPt>
          <c:dPt>
            <c:idx val="2"/>
            <c:spPr>
              <a:solidFill>
                <a:srgbClr val="001552"/>
              </a:solidFill>
            </c:spPr>
          </c:dPt>
          <c:cat>
            <c:strRef>
              <c:f>Sheet1!$A$2:$A$4</c:f>
              <c:strCache>
                <c:ptCount val="3"/>
                <c:pt idx="0">
                  <c:v>1.0× salary</c:v>
                </c:pt>
                <c:pt idx="1">
                  <c:v>1.5× salary</c:v>
                </c:pt>
                <c:pt idx="2">
                  <c:v>2.0× salary</c:v>
                </c:pt>
              </c:strCache>
            </c:strRef>
          </c:cat>
          <c:val>
            <c:numRef>
              <c:f>Sheet1!$B$2:$B$4</c:f>
              <c:numCache>
                <c:formatCode>[$-409]#,##0.0</c:formatCode>
                <c:ptCount val="3"/>
                <c:pt idx="0">
                  <c:v>7.3</c:v>
                </c:pt>
                <c:pt idx="1">
                  <c:v>4.8</c:v>
                </c:pt>
                <c:pt idx="2">
                  <c:v>3.6</c:v>
                </c:pt>
              </c:numCache>
            </c:numRef>
          </c:val>
        </c:ser>
        <c:dLbls>
          <c:numFmt formatCode="[$-409]#,##0.0" sourceLinked="0"/>
          <c:txPr>
            <a:bodyPr/>
            <a:lstStyle/>
            <a:p>
              <a:pPr>
                <a:defRPr sz="900">
                  <a:solidFill>
                    <a:srgbClr val="47546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6708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67085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recommendation is not to spend less for its own sake. It is that the blanket proposal spends where the evidence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lejandro-Tarazona/01_PeopleAnalytics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Attrition is not a pay problem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C9DAF3"/>
                </a:solidFill>
                <a:latin typeface="Calibri"/>
              </a:rPr>
              <a:t>A blanket 6 % across LATAM would cost $5.38M and leave the worst-paid segment where it is. $1.15M, targeted, does more.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091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CBCE8"/>
                </a:solidFill>
                <a:latin typeface="Calibri"/>
              </a:rPr>
              <a:t>MPG People &amp; Corporate Services  ·  Executive Committee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8FA6CC"/>
                </a:solidFill>
                <a:latin typeface="Calibri"/>
              </a:rPr>
              <a:t>4,500 employees · 9 cities · 24 months · 746 segments scanned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0468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FA6CC"/>
                </a:solidFill>
                <a:latin typeface="Calibri"/>
              </a:rPr>
              <a:t>Built on synthetic data, generated to a documented specification. Real compensation data is confidential — and because the anomalies were designed in advance, the analysis can be scored rather than asserted.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53328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9CBCE8"/>
                </a:solidFill>
                <a:latin typeface="Calibri"/>
                <a:hlinkClick r:id="rId2"/>
              </a:rPr>
              <a:t>github.com/Alejandro-Tarazona/01_PeopleAnalytics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01552"/>
                </a:solidFill>
                <a:latin typeface="Cambria"/>
              </a:rPr>
              <a:t>What was asked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085"/>
                </a:solidFill>
                <a:latin typeface="Calibri"/>
              </a:rPr>
              <a:t>HR has proposed a blanket 6 % salary adjustment across the LATAM hub. Before approving it, the CEO asked three questions.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286000"/>
            <a:ext cx="457200" cy="457200"/>
          </a:xfrm>
          <a:prstGeom prst="ellipse">
            <a:avLst/>
          </a:prstGeom>
          <a:solidFill>
            <a:srgbClr val="001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04288"/>
            <a:ext cx="2880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1552"/>
                </a:solidFill>
                <a:latin typeface="Calibri"/>
              </a:rPr>
              <a:t>Are we losing people everywhere,
or in specific places?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75467"/>
                </a:solidFill>
                <a:latin typeface="Calibri"/>
              </a:rPr>
              <a:t>Company attrition is 13.5 %. LATAM is at 16.4 %. Neither number says where.</a:t>
            </a:r>
          </a:p>
        </p:txBody>
      </p:sp>
      <p:sp>
        <p:nvSpPr>
          <p:cNvPr id="7" name="Oval 6"/>
          <p:cNvSpPr/>
          <p:nvPr/>
        </p:nvSpPr>
        <p:spPr>
          <a:xfrm>
            <a:off x="4343400" y="2286000"/>
            <a:ext cx="457200" cy="457200"/>
          </a:xfrm>
          <a:prstGeom prst="ellipse">
            <a:avLst/>
          </a:prstGeom>
          <a:solidFill>
            <a:srgbClr val="001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2304288"/>
            <a:ext cx="2880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1552"/>
                </a:solidFill>
                <a:latin typeface="Calibri"/>
              </a:rPr>
              <a:t>Is this actually a money problem?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75467"/>
                </a:solidFill>
                <a:latin typeface="Calibri"/>
              </a:rPr>
              <a:t>Low pay and high attrition in the same place is a correlation, not a cause. Three different problems can produce the same symptom.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2286000"/>
            <a:ext cx="457200" cy="457200"/>
          </a:xfrm>
          <a:prstGeom prst="ellipse">
            <a:avLst/>
          </a:prstGeom>
          <a:solidFill>
            <a:srgbClr val="001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304288"/>
            <a:ext cx="2880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1552"/>
                </a:solidFill>
                <a:latin typeface="Calibri"/>
              </a:rPr>
              <a:t>What is the smallest number
that fixes most of it?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75467"/>
                </a:solidFill>
                <a:latin typeface="Calibri"/>
              </a:rPr>
              <a:t>A blanket rate large enough to fix the worst segment overpays everyone else.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349240"/>
            <a:ext cx="10820095" cy="868680"/>
          </a:xfrm>
          <a:prstGeom prst="roundRect">
            <a:avLst>
              <a:gd name="adj" fmla="val 6000"/>
            </a:avLst>
          </a:prstGeom>
          <a:solidFill>
            <a:srgbClr val="001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59612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This deck answers them in that order. Every figure is reproducible from the repository.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01552"/>
                </a:solidFill>
                <a:latin typeface="Cambria"/>
              </a:rPr>
              <a:t>The answer, in one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185415"/>
            <a:ext cx="30083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Calibri"/>
              </a:rPr>
              <a:t>The proposal on the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532888"/>
            <a:ext cx="300837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96691A"/>
                </a:solidFill>
                <a:latin typeface="Cambria"/>
              </a:rPr>
              <a:t>$5.38M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118104"/>
            <a:ext cx="30083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Calibri"/>
              </a:rPr>
              <a:t>blanket 6 % across LATAM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96596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2584" y="2185415"/>
            <a:ext cx="30083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Calibri"/>
              </a:rPr>
              <a:t>What we recommend instead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2584" y="2532888"/>
            <a:ext cx="300837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001552"/>
                </a:solidFill>
                <a:latin typeface="Cambria"/>
              </a:rPr>
              <a:t>$1.15M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3118104"/>
            <a:ext cx="30083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Calibri"/>
              </a:rPr>
              <a:t>two segments, targeted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65960"/>
            <a:ext cx="336499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2185415"/>
            <a:ext cx="2852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Calibri"/>
              </a:rPr>
              <a:t>Exposure it addresses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532888"/>
            <a:ext cx="28529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001552"/>
                </a:solidFill>
                <a:latin typeface="Cambria"/>
              </a:rPr>
              <a:t>$5.76M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118104"/>
            <a:ext cx="2852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Calibri"/>
              </a:rPr>
              <a:t>1 : 5 against the spend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31920"/>
            <a:ext cx="10820095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10088575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1552"/>
                </a:solidFill>
                <a:latin typeface="Calibri"/>
              </a:rPr>
              <a:t>95 % of the blanket money lands on people already paid at or above their band minimum.</a:t>
            </a:r>
          </a:p>
          <a:p>
            <a:pPr algn="l">
              <a:spcAft>
                <a:spcPts val="1300"/>
              </a:spcAft>
            </a:pPr>
            <a:r>
              <a:rPr sz="1300" b="0">
                <a:solidFill>
                  <a:srgbClr val="475467"/>
                </a:solidFill>
                <a:latin typeface="Calibri"/>
              </a:rPr>
              <a:t>It is spread evenly across a problem that is not.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1552"/>
                </a:solidFill>
                <a:latin typeface="Calibri"/>
              </a:rPr>
              <a:t>23 people in LATAM would still be below band minimum after it.</a:t>
            </a:r>
          </a:p>
          <a:p>
            <a:pPr algn="l">
              <a:spcAft>
                <a:spcPts val="1300"/>
              </a:spcAft>
            </a:pPr>
            <a:r>
              <a:rPr sz="1300" b="0">
                <a:solidFill>
                  <a:srgbClr val="475467"/>
                </a:solidFill>
                <a:latin typeface="Calibri"/>
              </a:rPr>
              <a:t>The rate large enough to fix them is not a rate the budget can carry.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1552"/>
                </a:solidFill>
                <a:latin typeface="Calibri"/>
              </a:rPr>
              <a:t>The targeted adjustment pays for itself in under five months.</a:t>
            </a:r>
          </a:p>
          <a:p>
            <a:pPr algn="l">
              <a:spcAft>
                <a:spcPts val="1300"/>
              </a:spcAft>
            </a:pPr>
            <a:r>
              <a:rPr sz="1300" b="0">
                <a:solidFill>
                  <a:srgbClr val="475467"/>
                </a:solidFill>
                <a:latin typeface="Calibri"/>
              </a:rPr>
              <a:t>And still covers three times its cost under the most conservative assumption we tested.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01552"/>
                </a:solidFill>
                <a:latin typeface="Cambria"/>
              </a:rPr>
              <a:t>Specific places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085"/>
                </a:solidFill>
                <a:latin typeface="Calibri"/>
              </a:rPr>
              <a:t>746 segments were scanned. Eleven are large enough to judge. Four carry a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94560"/>
            <a:ext cx="263347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414015"/>
            <a:ext cx="21214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Calibri"/>
              </a:rPr>
              <a:t>Segments scanned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761488"/>
            <a:ext cx="21214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001552"/>
                </a:solidFill>
                <a:latin typeface="Cambria"/>
              </a:rPr>
              <a:t>746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346704"/>
            <a:ext cx="21214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Calibri"/>
              </a:rPr>
              <a:t>city × job × 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2194560"/>
            <a:ext cx="263347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03904" y="2414015"/>
            <a:ext cx="21214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Calibri"/>
              </a:rPr>
              <a:t>Large enough to judge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3904" y="2761488"/>
            <a:ext cx="21214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001552"/>
                </a:solidFill>
                <a:latin typeface="Cambria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3904" y="3346704"/>
            <a:ext cx="21214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Calibri"/>
              </a:rPr>
              <a:t>thirty or more people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9944" y="2194560"/>
            <a:ext cx="263347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5976" y="2414015"/>
            <a:ext cx="21214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Calibri"/>
              </a:rPr>
              <a:t>Carrying a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2761488"/>
            <a:ext cx="21214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001552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5976" y="3346704"/>
            <a:ext cx="21214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Calibri"/>
              </a:rPr>
              <a:t>across three different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2016" y="2194560"/>
            <a:ext cx="263347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8048" y="2414015"/>
            <a:ext cx="21214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Calibri"/>
              </a:rPr>
              <a:t>Twelve-month exposure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2761488"/>
            <a:ext cx="21214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96691A"/>
                </a:solidFill>
                <a:latin typeface="Cambria"/>
              </a:rPr>
              <a:t>$83.3M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3346704"/>
            <a:ext cx="21214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Calibri"/>
              </a:rPr>
              <a:t>599 voluntary exits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60520"/>
            <a:ext cx="10820095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480560"/>
            <a:ext cx="100885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1552"/>
                </a:solidFill>
                <a:latin typeface="Calibri"/>
              </a:rPr>
              <a:t>Why the middle number matters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475467"/>
                </a:solidFill>
                <a:latin typeface="Calibri"/>
              </a:rPr>
              <a:t>735 segments were set aside on size, not on judgement. Below thirty people an attrition rate is arithmetic on too few lives to act on — a single resignation moves it by three points. Reporting on them would not be conservative, it would be noise presented as findings.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01552"/>
                </a:solidFill>
                <a:latin typeface="Cambria"/>
              </a:rPr>
              <a:t>Heads and dollars point at different cities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54864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1552"/>
                </a:solidFill>
                <a:latin typeface="Calibri"/>
              </a:rPr>
              <a:t>Exposure, $M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68680" y="2560320"/>
          <a:ext cx="512064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46520" y="1965960"/>
            <a:ext cx="5056632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194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1552"/>
                </a:solidFill>
                <a:latin typeface="Calibri"/>
              </a:rPr>
              <a:t>Voluntary exits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629400" y="2560320"/>
          <a:ext cx="4690872" cy="2880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779008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75467"/>
                </a:solidFill>
                <a:latin typeface="Calibri"/>
              </a:rPr>
              <a:t>Bogotá lost 148 people, two and a half times more than any other city, and ranks fourth in exposure. Dublin lost 79 and ranks first: LATAM salaries are lower, so the same resignation costs less.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01552"/>
                </a:solidFill>
                <a:latin typeface="Cambria"/>
              </a:rPr>
              <a:t>What the rule declines to flag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085"/>
                </a:solidFill>
                <a:latin typeface="Calibri"/>
              </a:rPr>
              <a:t>Three tests, applied identically to all 746 segments, written before the data was looked 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1552"/>
                </a:solidFill>
                <a:latin typeface="Calibri"/>
              </a:rPr>
              <a:t>A materiality floor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75467"/>
                </a:solidFill>
                <a:latin typeface="Calibri"/>
              </a:rPr>
              <a:t>Thirty people. A rule that cannot act below thirty has no business reporting below thirty.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14884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237744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1552"/>
                </a:solidFill>
                <a:latin typeface="Calibri"/>
              </a:rPr>
              <a:t>A significance test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75467"/>
                </a:solidFill>
                <a:latin typeface="Calibri"/>
              </a:rPr>
              <a:t>The exact Poisson probability of the observed exits at the company rate. Below 0.05, or it does not fire.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14884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37744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1552"/>
                </a:solidFill>
                <a:latin typeface="Calibri"/>
              </a:rPr>
              <a:t>Three separate rules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75467"/>
                </a:solidFill>
                <a:latin typeface="Calibri"/>
              </a:rPr>
              <a:t>Pay, internal equity, and organizational. Three problems that look identical in an attrition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69080"/>
            <a:ext cx="10820095" cy="2103120"/>
          </a:xfrm>
          <a:prstGeom prst="roundRect">
            <a:avLst>
              <a:gd name="adj" fmla="val 6000"/>
            </a:avLst>
          </a:prstGeom>
          <a:solidFill>
            <a:srgbClr val="FDF6E9"/>
          </a:solidFill>
          <a:ln w="9525">
            <a:solidFill>
              <a:srgbClr val="E2D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343400"/>
            <a:ext cx="10088575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6691A"/>
                </a:solidFill>
                <a:latin typeface="Calibri"/>
              </a:rPr>
              <a:t>Two segments, identical numbers, neither fires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475467"/>
                </a:solidFill>
                <a:latin typeface="Calibri"/>
              </a:rPr>
              <a:t>Bogotá Operations IC3 and São Paulo Sales IC3: 35 people each, 8 voluntary exits against 4.7 expected, 1.69× the company baseline, p = 0.107. At that population an elevated reading has close to a one-in-nine chance of being chance alone.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001552"/>
                </a:solidFill>
                <a:latin typeface="Calibri"/>
              </a:rPr>
              <a:t>Under the “1.5× the baseline” rule of thumb this replaced, both would have been recommended for a raise.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01552"/>
                </a:solidFill>
                <a:latin typeface="Cambria"/>
              </a:rPr>
              <a:t>Bogotá · Data &amp; Analytics IC3–IC4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103120" cy="329184"/>
          </a:xfrm>
          <a:prstGeom prst="roundRect">
            <a:avLst/>
          </a:prstGeom>
          <a:solidFill>
            <a:srgbClr val="001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PAY ADJUSTMENT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5661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176272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Compa-ratio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487168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01552"/>
                </a:solidFill>
                <a:latin typeface="Cambria"/>
              </a:rPr>
              <a:t>0.85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011680"/>
            <a:ext cx="35661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82312" y="2176272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Attrition vs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2487168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01552"/>
                </a:solidFill>
                <a:latin typeface="Cambria"/>
              </a:rPr>
              <a:t>2.42×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011680"/>
            <a:ext cx="35661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2176272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Significance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2487168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01552"/>
                </a:solidFill>
                <a:latin typeface="Cambria"/>
              </a:rPr>
              <a:t>p &lt; 0.0002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46120"/>
            <a:ext cx="35661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410712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Cost to lift to 0.95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721608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01552"/>
                </a:solidFill>
                <a:latin typeface="Cambria"/>
              </a:rPr>
              <a:t>$811K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246120"/>
            <a:ext cx="35661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3410712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Exposure carried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721608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01552"/>
                </a:solidFill>
                <a:latin typeface="Cambria"/>
              </a:rPr>
              <a:t>$3.43M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246120"/>
            <a:ext cx="35661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2792" y="3410712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Payback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3721608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01552"/>
                </a:solidFill>
                <a:latin typeface="Cambria"/>
              </a:rPr>
              <a:t>4.8 months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617720"/>
            <a:ext cx="10820095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864608"/>
            <a:ext cx="100885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75467"/>
                </a:solidFill>
                <a:latin typeface="Calibri"/>
              </a:rPr>
              <a:t>The one segment where money is both the cause and the fix. 150 people paid at 85 % of market midpoint, losing a third of themselves a year. The pay gap is not in a tail: only 15 % sit below band minimum, because the band floor is 80 % of midpoint. The whole distribution has drifted.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01552"/>
                </a:solidFill>
                <a:latin typeface="Cambria"/>
              </a:rPr>
              <a:t>Dublin · Engineering IC5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103120" cy="329184"/>
          </a:xfrm>
          <a:prstGeom prst="roundRect">
            <a:avLst/>
          </a:prstGeom>
          <a:solidFill>
            <a:srgbClr val="3E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INTERNAL EQUITY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5661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176272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Compa-ratio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487168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01552"/>
                </a:solidFill>
                <a:latin typeface="Cambria"/>
              </a:rPr>
              <a:t>0.99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011680"/>
            <a:ext cx="35661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82312" y="2176272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Attrition vs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2487168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01552"/>
                </a:solidFill>
                <a:latin typeface="Cambria"/>
              </a:rPr>
              <a:t>0.74×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011680"/>
            <a:ext cx="35661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2176272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Incumbents vs recent hires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2487168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01552"/>
                </a:solidFill>
                <a:latin typeface="Cambria"/>
              </a:rPr>
              <a:t>p25 → p74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46120"/>
            <a:ext cx="35661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410712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Cost to close the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721608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01552"/>
                </a:solidFill>
                <a:latin typeface="Cambria"/>
              </a:rPr>
              <a:t>$342K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246120"/>
            <a:ext cx="35661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3410712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Exposure carried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721608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01552"/>
                </a:solidFill>
                <a:latin typeface="Cambria"/>
              </a:rPr>
              <a:t>$2.33M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246120"/>
            <a:ext cx="35661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2792" y="3410712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Payback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3721608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01552"/>
                </a:solidFill>
                <a:latin typeface="Cambria"/>
              </a:rPr>
              <a:t>no attrition yet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617720"/>
            <a:ext cx="10820095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864608"/>
            <a:ext cx="100885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75467"/>
                </a:solidFill>
                <a:latin typeface="Calibri"/>
              </a:rPr>
              <a:t>Invisible in the segment average, which is healthy. Long-tenured engineers sit at the 25th percentile of their own peer group while recent hires enter at the 74th. Attrition has not reacted — this is the only finding made before it did, and the only time an equity correction is cheap.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01552"/>
                </a:solidFill>
                <a:latin typeface="Cambria"/>
              </a:rPr>
              <a:t>Singapore · Risk &amp; Compliance IC2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103120" cy="329184"/>
          </a:xfrm>
          <a:prstGeom prst="roundRect">
            <a:avLst/>
          </a:prstGeom>
          <a:solidFill>
            <a:srgbClr val="9CB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ORGANIZATIONAL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5661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176272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Compa-ratio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487168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01552"/>
                </a:solidFill>
                <a:latin typeface="Cambria"/>
              </a:rPr>
              <a:t>1.01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011680"/>
            <a:ext cx="35661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82312" y="2176272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Attrition vs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2487168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01552"/>
                </a:solidFill>
                <a:latin typeface="Cambria"/>
              </a:rPr>
              <a:t>2.07×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011680"/>
            <a:ext cx="35661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2176272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Span of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2487168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01552"/>
                </a:solidFill>
                <a:latin typeface="Cambria"/>
              </a:rPr>
              <a:t>15.1 vs 6.7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46120"/>
            <a:ext cx="35661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410712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Cost of a pay 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721608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01552"/>
                </a:solidFill>
                <a:latin typeface="Cambria"/>
              </a:rPr>
              <a:t>not the lever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246120"/>
            <a:ext cx="35661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3410712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Exposure carried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721608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01552"/>
                </a:solidFill>
                <a:latin typeface="Cambria"/>
              </a:rPr>
              <a:t>$2.18M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246120"/>
            <a:ext cx="35661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2792" y="3410712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A supervisory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3721608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01552"/>
                </a:solidFill>
                <a:latin typeface="Cambria"/>
              </a:rPr>
              <a:t>$0.5M – $1.2M / yr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617720"/>
            <a:ext cx="10820095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864608"/>
            <a:ext cx="100885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75467"/>
                </a:solidFill>
                <a:latin typeface="Calibri"/>
              </a:rPr>
              <a:t>Attrition twice the baseline and pay at market. One manager for every fifteen people against a company norm of one in seven. The lever is supervision, and it is not free: closing the span to 10 needs three more managers, to 7 needs eight.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01552"/>
                </a:solidFill>
                <a:latin typeface="Cambria"/>
              </a:rPr>
              <a:t>The smallest number that fixes most of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5486400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128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1552"/>
                </a:solidFill>
                <a:latin typeface="Calibri"/>
              </a:rPr>
              <a:t>Where a blanket 6 % across LATAM goes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68680" y="2697480"/>
          <a:ext cx="512064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" y="52120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75467"/>
                </a:solidFill>
                <a:latin typeface="Calibri"/>
              </a:rPr>
              <a:t>95 % of $5.38M reaches people the argument does not describe.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965960"/>
            <a:ext cx="5056632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2128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1552"/>
                </a:solidFill>
                <a:latin typeface="Calibri"/>
              </a:rPr>
              <a:t>The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4320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Calibri"/>
              </a:rPr>
              <a:t>Blanket 6 % across LATAM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035808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96691A"/>
                </a:solidFill>
                <a:latin typeface="Cambria"/>
              </a:rPr>
              <a:t>$5.38M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6118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23 people still below minimum after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16052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Calibri"/>
              </a:rPr>
              <a:t>Targeted, two segments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453128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001552"/>
                </a:solidFill>
                <a:latin typeface="Cambria"/>
              </a:rPr>
              <a:t>$1.15M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02920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Calibri"/>
              </a:rPr>
              <a:t>covers $5.76M of exposure, 1 :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01552"/>
                </a:solidFill>
                <a:latin typeface="Cambria"/>
              </a:rPr>
              <a:t>The assumption it all rests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085"/>
                </a:solidFill>
                <a:latin typeface="Calibri"/>
              </a:rPr>
              <a:t>Every payback here depends on what replacing someone costs. That figure is declared, not measured — so here is the recommendation at the whole range.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3172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1552"/>
                </a:solidFill>
                <a:latin typeface="Calibri"/>
              </a:rPr>
              <a:t>Payback on the pay adjustment, months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68680" y="2971800"/>
          <a:ext cx="512064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46520" y="2331720"/>
            <a:ext cx="505663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606040"/>
            <a:ext cx="44805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1552"/>
                </a:solidFill>
                <a:latin typeface="Calibri"/>
              </a:rPr>
              <a:t>The spend does not move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475467"/>
                </a:solidFill>
                <a:latin typeface="Calibri"/>
              </a:rPr>
              <a:t>$1.15M at every assumption. The replacement factor prices the benefit, never the intervention — lifting a salary costs what it costs regardless of what replacing that person would have cost.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1552"/>
                </a:solidFill>
                <a:latin typeface="Calibri"/>
              </a:rPr>
              <a:t>There is no breaking point in the range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75467"/>
                </a:solidFill>
                <a:latin typeface="Calibri"/>
              </a:rPr>
              <a:t>At the most conservative assumption anyone defends — 1.0× salary, the bottom of the published range — the recommendation still covers 3.3 times its cost and pays back inside eight months.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62356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Calibri"/>
              </a:rPr>
              <a:t>HR literature puts replacement cost between 0.5× and 2× annual salary, rising with specialization and ramp time. The model applies 0.5× to Operations through 2.0× to managers.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01552"/>
                </a:solidFill>
                <a:latin typeface="Cambria"/>
              </a:rPr>
              <a:t>The raise we did not recommend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085"/>
                </a:solidFill>
                <a:latin typeface="Calibri"/>
              </a:rPr>
              <a:t>São Paulo Sales, 122 people, is the most under-paid population in the company on base salary. It is not on the action list.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642615"/>
            <a:ext cx="30540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Calibri"/>
              </a:rPr>
              <a:t>Base compa-ratio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990088"/>
            <a:ext cx="305409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96691A"/>
                </a:solidFill>
                <a:latin typeface="Cambria"/>
              </a:rPr>
              <a:t>0.88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575304"/>
            <a:ext cx="30540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Calibri"/>
              </a:rPr>
              <a:t>lowest of any segment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42316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2642615"/>
            <a:ext cx="30540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Calibri"/>
              </a:rPr>
              <a:t>Total target cash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2990088"/>
            <a:ext cx="305409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001552"/>
                </a:solidFill>
                <a:latin typeface="Cambria"/>
              </a:rPr>
              <a:t>0.99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3575304"/>
            <a:ext cx="30540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Calibri"/>
              </a:rPr>
              <a:t>41 % variable against a 25 % norm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42316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2642615"/>
            <a:ext cx="30540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Calibri"/>
              </a:rPr>
              <a:t>Attrition vs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22792" y="2990088"/>
            <a:ext cx="305409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001552"/>
                </a:solidFill>
                <a:latin typeface="Cambria"/>
              </a:rPr>
              <a:t>1.17×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3575304"/>
            <a:ext cx="30540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Calibri"/>
              </a:rPr>
              <a:t>inside the noise, p = 0.49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43400"/>
            <a:ext cx="10820095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617720"/>
            <a:ext cx="100885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75467"/>
                </a:solidFill>
                <a:latin typeface="Calibri"/>
              </a:rPr>
              <a:t>Sales people in São Paulo are paid through variable compensation, and the market there expects it. Reading base salary alone would have recommended a raise for 122 people who were never underpaid — the single most expensive mistake available in this dataset, and the reason the rule reads total target cash rather than base.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01552"/>
                </a:solidFill>
                <a:latin typeface="Cambria"/>
              </a:rPr>
              <a:t>What could make this wrong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67128"/>
            <a:ext cx="48006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1552"/>
                </a:solidFill>
                <a:latin typeface="Calibri"/>
              </a:rPr>
              <a:t>Attrition may not be caused by pay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75467"/>
                </a:solidFill>
                <a:latin typeface="Calibri"/>
              </a:rPr>
              <a:t>Bogotá shows low pay and high attrition together. That is a correlation. If people are leaving for managers, workload or career path, $811K buys nothing.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447288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6691A"/>
                </a:solidFill>
                <a:latin typeface="Calibri"/>
              </a:rPr>
              <a:t>Mitigation: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344728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467"/>
                </a:solidFill>
                <a:latin typeface="Calibri"/>
              </a:rPr>
              <a:t>Pilot it. Treat one half, hold the other.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6596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67128"/>
            <a:ext cx="48006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1552"/>
                </a:solidFill>
                <a:latin typeface="Calibri"/>
              </a:rPr>
              <a:t>Fixing IC3–IC4 alone inverts the ladder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75467"/>
                </a:solidFill>
                <a:latin typeface="Calibri"/>
              </a:rPr>
              <a:t>IC5 sits at 0.887 and IC6 at 0.928. Lift IC3–IC4 to 0.95 and the levels above them are paid less than the levels below.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447288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6691A"/>
                </a:solidFill>
                <a:latin typeface="Calibri"/>
              </a:rPr>
              <a:t>Mitigation: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344728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467"/>
                </a:solidFill>
                <a:latin typeface="Calibri"/>
              </a:rPr>
              <a:t>Extend to the whole family: $194K more.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11480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15968"/>
            <a:ext cx="48006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1552"/>
                </a:solidFill>
                <a:latin typeface="Calibri"/>
              </a:rPr>
              <a:t>Singapore's fix is priced at zero here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75467"/>
                </a:solidFill>
                <a:latin typeface="Calibri"/>
              </a:rPr>
              <a:t>A supervisory layer is a salary budget too. Three to eight managers, depending on the span targeted.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596128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6691A"/>
                </a:solidFill>
                <a:latin typeface="Calibri"/>
              </a:rPr>
              <a:t>Mitigation: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59612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467"/>
                </a:solidFill>
                <a:latin typeface="Calibri"/>
              </a:rPr>
              <a:t>Price it before committing: $0.5M – $1.2M.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11480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315968"/>
            <a:ext cx="48006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1552"/>
                </a:solidFill>
                <a:latin typeface="Calibri"/>
              </a:rPr>
              <a:t>The market survey is a point in time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75467"/>
                </a:solidFill>
                <a:latin typeface="Calibri"/>
              </a:rPr>
              <a:t>Every compa-ratio is measured against one survey year. If the market moved, the gap is measured against a stale midpoint.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596128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6691A"/>
                </a:solidFill>
                <a:latin typeface="Calibri"/>
              </a:rPr>
              <a:t>Mitigation: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559612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467"/>
                </a:solidFill>
                <a:latin typeface="Calibri"/>
              </a:rPr>
              <a:t>Re-run at the next survey before extending.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01552"/>
                </a:solidFill>
                <a:latin typeface="Cambria"/>
              </a:rPr>
              <a:t>The pilot the data already designed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085"/>
                </a:solidFill>
                <a:latin typeface="Calibri"/>
              </a:rPr>
              <a:t>Bogotá Data &amp; Analytics splits into two levels that are statistical twins. Treat one, hold the other — a controlled comparison, not a before-and-after.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7744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06040"/>
            <a:ext cx="4800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1552"/>
                </a:solidFill>
                <a:latin typeface="Calibri"/>
              </a:rPr>
              <a:t>IC3 — treated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75467"/>
                </a:solidFill>
                <a:latin typeface="Calibri"/>
              </a:rPr>
              <a:t>74 people · compa-ratio 0.853 · attrition 34.0 % · 24 exits
Lift to 0.95 of market: $349K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377440"/>
            <a:ext cx="51663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606040"/>
            <a:ext cx="46177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67085"/>
                </a:solidFill>
                <a:latin typeface="Calibri"/>
              </a:rPr>
              <a:t>IC4 — control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75467"/>
                </a:solidFill>
                <a:latin typeface="Calibri"/>
              </a:rPr>
              <a:t>76 people · compa-ratio 0.851 · attrition 31.5 % · 25 exits
No change until the pilot reads 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114800"/>
            <a:ext cx="10820095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343400"/>
            <a:ext cx="4937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1552"/>
                </a:solidFill>
                <a:latin typeface="Calibri"/>
              </a:rPr>
              <a:t>When it can answer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475467"/>
                </a:solidFill>
                <a:latin typeface="Calibri"/>
              </a:rPr>
              <a:t>3 months  ·  p = 0.09  ·  cannot tell
6 months  ·  p = 0.07  ·  suggestive
9 months  ·  p = 0.01  ·  conclusive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343400"/>
            <a:ext cx="4937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96691A"/>
                </a:solidFill>
                <a:latin typeface="Calibri"/>
              </a:rPr>
              <a:t>But it can fail fast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75467"/>
                </a:solidFill>
                <a:latin typeface="Calibri"/>
              </a:rPr>
              <a:t>Six or more exits from IC3 in the first three months would be unlikely if the adjustment were working. That is the stop-loss: killing a failure is quicker than proving a success.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01552"/>
                </a:solidFill>
                <a:latin typeface="Cambria"/>
              </a:rPr>
              <a:t>What happens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03120"/>
            <a:ext cx="263347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331720"/>
            <a:ext cx="21579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6691A"/>
                </a:solidFill>
                <a:latin typeface="Calibri"/>
              </a:rP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670048"/>
            <a:ext cx="21579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1552"/>
                </a:solidFill>
                <a:latin typeface="Cambria"/>
              </a:rPr>
              <a:t>Approve $349K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3520440"/>
            <a:ext cx="215798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467"/>
                </a:solidFill>
                <a:latin typeface="Calibri"/>
              </a:rPr>
              <a:t>Bogotá DAT IC3 only. Dublin's $342K equity correction runs in parallel — it needs no pilot, the gap is measured, not inferred.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7872" y="2103120"/>
            <a:ext cx="263347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2331720"/>
            <a:ext cx="21579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6691A"/>
                </a:solidFill>
                <a:latin typeface="Calibri"/>
              </a:rPr>
              <a:t>Month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5615" y="2670048"/>
            <a:ext cx="21579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1552"/>
                </a:solidFill>
                <a:latin typeface="Cambria"/>
              </a:rPr>
              <a:t>Adjustments effective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5615" y="3520440"/>
            <a:ext cx="215798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467"/>
                </a:solidFill>
                <a:latin typeface="Calibri"/>
              </a:rPr>
              <a:t>Communicated as a market correction, not as a retention payment. IC4 unchanged and unaware.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9944" y="2103120"/>
            <a:ext cx="263347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331720"/>
            <a:ext cx="21579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6691A"/>
                </a:solidFill>
                <a:latin typeface="Calibri"/>
              </a:rPr>
              <a:t>Month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670048"/>
            <a:ext cx="21579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1552"/>
                </a:solidFill>
                <a:latin typeface="Cambria"/>
              </a:rPr>
              <a:t>Stop-loss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3520440"/>
            <a:ext cx="215798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467"/>
                </a:solidFill>
                <a:latin typeface="Calibri"/>
              </a:rPr>
              <a:t>Six or more exits from IC3 and the pay hypothesis is wrong. Stop, and re-open the segment as an organizational question.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2016" y="2103120"/>
            <a:ext cx="263347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2331720"/>
            <a:ext cx="21579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6691A"/>
                </a:solidFill>
                <a:latin typeface="Calibri"/>
              </a:rPr>
              <a:t>Month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670048"/>
            <a:ext cx="21579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1552"/>
                </a:solidFill>
                <a:latin typeface="Cambria"/>
              </a:rPr>
              <a:t>Read the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520440"/>
            <a:ext cx="215798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467"/>
                </a:solidFill>
                <a:latin typeface="Calibri"/>
              </a:rPr>
              <a:t>Conclusive at p = 0.01 if it worked. Extend to IC4 and the rest of the ladder: $462K plus $194K.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532120"/>
            <a:ext cx="10820095" cy="777240"/>
          </a:xfrm>
          <a:prstGeom prst="roundRect">
            <a:avLst>
              <a:gd name="adj" fmla="val 6000"/>
            </a:avLst>
          </a:prstGeom>
          <a:solidFill>
            <a:srgbClr val="001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742432"/>
            <a:ext cx="100885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Total committed today: $691K. The remaining $656K is contingent on a result.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What this proves, and what it does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48840"/>
            <a:ext cx="5349240" cy="2880360"/>
          </a:xfrm>
          <a:prstGeom prst="roundRect">
            <a:avLst>
              <a:gd name="adj" fmla="val 6000"/>
            </a:avLst>
          </a:prstGeom>
          <a:solidFill>
            <a:srgbClr val="0A2050"/>
          </a:solidFill>
          <a:ln w="9525">
            <a:solidFill>
              <a:srgbClr val="1B3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95728"/>
            <a:ext cx="47548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It was scored, not asserted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C9DAF3"/>
                </a:solidFill>
                <a:latin typeface="Calibri"/>
              </a:rPr>
              <a:t>The rule was run against an answer key written before the data existed: four anomalies built in, two of them designed to be dismissed.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FFFFFF"/>
                </a:solidFill>
                <a:latin typeface="Cambria"/>
              </a:rPr>
              <a:t>Precision 100 %  ·  Recall 100 %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C9DAF3"/>
                </a:solidFill>
                <a:latin typeface="Calibri"/>
              </a:rPr>
              <a:t>Every figure is computed twice — once in DAX inside the model, once in Python from the warehouse — and the two are reconciled cell by cell. 77 automated tests. A wrong number fails a build, not a meeting.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48840"/>
            <a:ext cx="5166360" cy="2880360"/>
          </a:xfrm>
          <a:prstGeom prst="roundRect">
            <a:avLst>
              <a:gd name="adj" fmla="val 6000"/>
            </a:avLst>
          </a:prstGeom>
          <a:solidFill>
            <a:srgbClr val="0A2050"/>
          </a:solidFill>
          <a:ln w="9525">
            <a:solidFill>
              <a:srgbClr val="1B3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395728"/>
            <a:ext cx="4617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The limits, stated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C9DAF3"/>
                </a:solidFill>
                <a:latin typeface="Calibri"/>
              </a:rPr>
              <a:t>The thresholds are calibrated on this organization. A company with a different baseline needs them re-derived, not copied.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C9DAF3"/>
                </a:solidFill>
                <a:latin typeface="Calibri"/>
              </a:rPr>
              <a:t>A perfect score on data built to be found is not a perfect score on real data. What this demonstrates is that the logic separates a real signal from two plausible decoys.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And it is why the recommendation is a pilot rather than a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CBCE8"/>
      </a:hlink>
      <a:folHlink>
        <a:srgbClr val="9CBC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CBCE8"/>
      </a:hlink>
      <a:folHlink>
        <a:srgbClr val="9CBC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